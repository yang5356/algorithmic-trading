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4b45a87f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4b45a87f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4b45a87f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4b45a87f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4b45a87f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4b45a87f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4b45a87f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4b45a87f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4b45a87f2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4b45a87f2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4b45a87f2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4b45a87f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4b45a87f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4b45a87f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898e551e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898e551e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4b45a87f2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4b45a87f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898e551e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898e551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9af14550e_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9af14550e_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898e551e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898e551e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898e551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898e551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898e551e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898e551e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898e551e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898e551e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898e551e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898e551e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4b45a87f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4b45a87f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898e551e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898e551e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898e551e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898e551e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898e551e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898e551e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898e551e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898e551e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898e551e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898e551e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898e551e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898e551e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4b45a87f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4b45a87f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898e551e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898e551e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5293 Final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Overview &amp; </a:t>
            </a:r>
            <a:r>
              <a:rPr lang="en-GB"/>
              <a:t>summary</a:t>
            </a:r>
            <a:r>
              <a:rPr lang="en-GB"/>
              <a:t> statistics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100425" y="1004050"/>
            <a:ext cx="1983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Timeframe:                    </a:t>
            </a:r>
            <a:r>
              <a:rPr lang="en-GB"/>
              <a:t>1,035 daily records from Jan 2022 to Oct 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Target Variable: </a:t>
            </a:r>
            <a:r>
              <a:rPr lang="en-GB"/>
              <a:t>Next-day price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Feature Set:            </a:t>
            </a:r>
            <a:r>
              <a:rPr lang="en-GB"/>
              <a:t>Technical indicators (SMA, EMA, RSI, MACD, Bollinger Bands)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950" y="1004047"/>
            <a:ext cx="3952675" cy="156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800" y="2906200"/>
            <a:ext cx="2624024" cy="17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3200" y="2988925"/>
            <a:ext cx="1287500" cy="18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1240450" y="3638700"/>
            <a:ext cx="3615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Mean price: 37.36, Std: 16.13</a:t>
            </a:r>
            <a:b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Min: 14.01, Max: 74.67</a:t>
            </a:r>
            <a:b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Right-skewed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Indicators</a:t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650" y="874750"/>
            <a:ext cx="3833375" cy="15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075" y="874750"/>
            <a:ext cx="2776552" cy="1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638" y="2388475"/>
            <a:ext cx="4022698" cy="1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6237" y="2242450"/>
            <a:ext cx="3294226" cy="1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9348" y="3610150"/>
            <a:ext cx="6962954" cy="15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RF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203000" y="1177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5"/>
              <a:t>Trained on rolling 5-day windows to predict next-day price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525"/>
              <a:t>Hyperparameter:</a:t>
            </a:r>
            <a:endParaRPr b="1"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n_estimators: 100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Max_depth: 5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Min_samples_split: 2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Min_samples_leaf: 1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Max_features: 'sqrt'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  <p:sp>
        <p:nvSpPr>
          <p:cNvPr id="162" name="Google Shape;162;p16"/>
          <p:cNvSpPr txBox="1"/>
          <p:nvPr/>
        </p:nvSpPr>
        <p:spPr>
          <a:xfrm>
            <a:off x="4465675" y="2020175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2.4962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1.5788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R²: 0.9905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SVM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312075" y="2197400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3.1327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1.7699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R²: 0.9880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524150" y="2134650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Hyperparameter: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C: 500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Epsilon: 0.5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Kernel: 'rbf'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Gamma: 'scale'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Shrinking: True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1203000" y="1177900"/>
            <a:ext cx="70389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5"/>
              <a:t>Trained on rolling 5-day windows to predict next-day price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GBM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1203000" y="1177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Trained on rolling 5-day windows to predict next-day price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525"/>
              <a:t>Hyperparameter:</a:t>
            </a:r>
            <a:endParaRPr b="1"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N_estimators: 100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Learning_rate: 0.1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Max_depth: 3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Subsample: 0.9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Min_samples_split: 2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Max_features: 'sqrt'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  <p:sp>
        <p:nvSpPr>
          <p:cNvPr id="177" name="Google Shape;177;p18"/>
          <p:cNvSpPr txBox="1"/>
          <p:nvPr/>
        </p:nvSpPr>
        <p:spPr>
          <a:xfrm>
            <a:off x="4465675" y="2020175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	2.2822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1.5107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²: </a:t>
            </a: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0.9913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XGB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203000" y="11779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Trained on rolling 5-day windows to predict next-day price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525"/>
              <a:t>Hyperparameter:</a:t>
            </a:r>
            <a:endParaRPr b="1"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N_estimators: 100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Learning_rate: 0.1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Max_depth: 3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Subsample: 0.9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Colsample_bytree: 0.8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Gamma: 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  <p:sp>
        <p:nvSpPr>
          <p:cNvPr id="184" name="Google Shape;184;p19"/>
          <p:cNvSpPr txBox="1"/>
          <p:nvPr/>
        </p:nvSpPr>
        <p:spPr>
          <a:xfrm>
            <a:off x="4465675" y="2020175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2.6209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1.6189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R²: 0.99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MLP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203000" y="1177900"/>
            <a:ext cx="70389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Trained on rolling 5-day windows with scaled input features.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525"/>
              <a:t>Hyperparameter:</a:t>
            </a:r>
            <a:endParaRPr b="1"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Hidden_layer_sizes: (64, 64)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Activation: 'relu'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Solver: 'adam'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Learning_rate: 'adaptive'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Alpha: 0.0001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Max_iter: 500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  <p:sp>
        <p:nvSpPr>
          <p:cNvPr id="191" name="Google Shape;191;p20"/>
          <p:cNvSpPr txBox="1"/>
          <p:nvPr/>
        </p:nvSpPr>
        <p:spPr>
          <a:xfrm>
            <a:off x="4465675" y="2020175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7.0051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2.6467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R²: 0.9732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RNN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1203000" y="1177900"/>
            <a:ext cx="7038900" cy="42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525"/>
              <a:t>Trained on rolling 5-day windows with scaled input features.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1525"/>
              <a:t>Hyperparameter:</a:t>
            </a:r>
            <a:endParaRPr b="1"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RNN Layer 1 Units: 64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RNN Layer 2 Units: 32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Dropout: 0.2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Optimizer: Adam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Loss Function: MSE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Batch Size: 16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Epochs: 50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/>
              <a:t>Patience: 10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25"/>
          </a:p>
        </p:txBody>
      </p:sp>
      <p:sp>
        <p:nvSpPr>
          <p:cNvPr id="198" name="Google Shape;198;p21"/>
          <p:cNvSpPr txBox="1"/>
          <p:nvPr/>
        </p:nvSpPr>
        <p:spPr>
          <a:xfrm>
            <a:off x="4465675" y="2020175"/>
            <a:ext cx="2409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Evaluation Metrics:</a:t>
            </a:r>
            <a:endParaRPr b="1"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6.7375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2.5957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2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R²: 0.9742</a:t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2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Performance</a:t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075" y="1223300"/>
            <a:ext cx="706170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/>
        </p:nvSpPr>
        <p:spPr>
          <a:xfrm>
            <a:off x="1279375" y="1792750"/>
            <a:ext cx="24681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predicted price &gt; current price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3668500" y="1901350"/>
            <a:ext cx="3456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4132550" y="1792750"/>
            <a:ext cx="631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780200" y="1901350"/>
            <a:ext cx="3456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5449900" y="1792750"/>
            <a:ext cx="23946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buy 5 times a row, then hold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279375" y="2715800"/>
            <a:ext cx="24681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predicted price &lt; current price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668500" y="2824400"/>
            <a:ext cx="3456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4132550" y="2715800"/>
            <a:ext cx="631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780200" y="2824400"/>
            <a:ext cx="3456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449900" y="2715800"/>
            <a:ext cx="23946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If sell 5  times a row, then hold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Trading logic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 without leverage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1376475" y="1510775"/>
            <a:ext cx="6690900" cy="3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Strategy Logic: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Buy if predicted price &gt; current price by 0.01%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Sell if predicted price &lt; current price by 0.02 %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Hold otherwise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One unit traded per action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action can repeat for more than 5 consecutive steps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Ensemble Method:</a:t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 Average of predictions from: RF, RNN, XGB, MLP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1142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482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521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139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$15724.54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$10426.73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89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$985.08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XGB</a:t>
            </a:r>
            <a:endParaRPr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Buys: 512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493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$16407.01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$9621.05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114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$1410.50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MLP</a:t>
            </a:r>
            <a:endParaRPr/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Buys: 643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360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88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$20536.64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$2559.79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302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$1338.86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RNN</a:t>
            </a:r>
            <a:endParaRPr/>
          </a:p>
        </p:txBody>
      </p:sp>
      <p:sp>
        <p:nvSpPr>
          <p:cNvPr id="249" name="Google Shape;249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Buys: 493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508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175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$16347.13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$10096.90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105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$1133.00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Ensemble</a:t>
            </a:r>
            <a:endParaRPr/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1066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596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409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61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$19929.64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$4988.62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251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$1903.01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 without leverage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300" y="1503825"/>
            <a:ext cx="7140227" cy="31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 with leverage</a:t>
            </a:r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1340350" y="1307850"/>
            <a:ext cx="6690900" cy="3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Strategy Logic: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Buy 1 if predicted price &gt; current price by 0.01%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Buy 2 if &gt; </a:t>
            </a: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current</a:t>
            </a: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price by 0.02%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Sell 1 if predicted price &lt; current price by 0.02 %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Sell 2 if &lt; current price by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Hold otherwise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One unit traded per action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action can repeat for more than 5 consecutive steps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Ensemble Method:</a:t>
            </a:r>
            <a:endParaRPr b="1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 Average of predictions from: RF, RNN, XGB, MLP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RF</a:t>
            </a:r>
            <a:endParaRPr/>
          </a:p>
        </p:txBody>
      </p:sp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2145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964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1044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137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$15424.73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$10900.76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76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$1197.85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XGB</a:t>
            </a:r>
            <a:endParaRPr/>
          </a:p>
        </p:txBody>
      </p:sp>
      <p:sp>
        <p:nvSpPr>
          <p:cNvPr id="280" name="Google Shape;280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2070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1024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987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$16866.00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$9306.19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127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$2377.47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MLP</a:t>
            </a:r>
            <a:endParaRPr/>
          </a:p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2092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1284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722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86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$24880.91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$356.19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412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$3437.80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RNN</a:t>
            </a:r>
            <a:endParaRPr/>
          </a:p>
        </p:txBody>
      </p:sp>
      <p:sp>
        <p:nvSpPr>
          <p:cNvPr id="292" name="Google Shape;292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2176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984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1019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173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$16704.42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$10394.66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106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$2068.33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Ensemble</a:t>
            </a:r>
            <a:endParaRPr/>
          </a:p>
        </p:txBody>
      </p:sp>
      <p:sp>
        <p:nvSpPr>
          <p:cNvPr id="298" name="Google Shape;298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Actions: 2069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Buys: 1190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Sells: 818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Total Holds: 61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Final Portfolio Value: $23756.70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Cash: $422.51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Crypto Units: 392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Accumulated Realized P&amp;L: $4270.31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 with leverage</a:t>
            </a:r>
            <a:endParaRPr/>
          </a:p>
        </p:txBody>
      </p:sp>
      <p:sp>
        <p:nvSpPr>
          <p:cNvPr id="304" name="Google Shape;304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5" y="1400850"/>
            <a:ext cx="7964499" cy="340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>
            <p:ph type="title"/>
          </p:nvPr>
        </p:nvSpPr>
        <p:spPr>
          <a:xfrm>
            <a:off x="1052550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Thank You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